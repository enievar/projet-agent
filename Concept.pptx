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notesMasterIdLst>
    <p:notesMasterId r:id="rId10"/>
  </p:notesMasterIdLst>
  <p:sldIdLst>
    <p:sldId id="256" r:id="rId2"/>
    <p:sldId id="257" r:id="rId3"/>
    <p:sldId id="261" r:id="rId4"/>
    <p:sldId id="258" r:id="rId5"/>
    <p:sldId id="260" r:id="rId6"/>
    <p:sldId id="264" r:id="rId7"/>
    <p:sldId id="262" r:id="rId8"/>
    <p:sldId id="263" r:id="rId9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3" d="100"/>
          <a:sy n="63" d="100"/>
        </p:scale>
        <p:origin x="99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E07B6BC-D135-4488-9E1A-92A377D5D966}" type="datetimeFigureOut">
              <a:rPr lang="fr-FR" smtClean="0"/>
              <a:t>02/11/2025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1CEB417-484F-47D9-90FB-8DB442D9688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0465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1CEB417-484F-47D9-90FB-8DB442D96883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09249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6820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37516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8061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65659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11/2/2025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29353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11/2/2025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54321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11/2/2025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18190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109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11/2/2025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4150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86299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8351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11/2/2025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‹N°›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687139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79" r:id="rId6"/>
    <p:sldLayoutId id="2147483675" r:id="rId7"/>
    <p:sldLayoutId id="2147483676" r:id="rId8"/>
    <p:sldLayoutId id="2147483677" r:id="rId9"/>
    <p:sldLayoutId id="2147483678" r:id="rId10"/>
    <p:sldLayoutId id="2147483680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33E93247-6229-44AB-A550-739E971E69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EE3FA690-72CE-C92F-C985-3FB631680CB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3400" y="871759"/>
            <a:ext cx="5227171" cy="2176242"/>
          </a:xfrm>
        </p:spPr>
        <p:txBody>
          <a:bodyPr>
            <a:normAutofit fontScale="90000"/>
          </a:bodyPr>
          <a:lstStyle/>
          <a:p>
            <a:r>
              <a:rPr lang="fr-FR" sz="3200" dirty="0"/>
              <a:t>Agent Intelligent : </a:t>
            </a:r>
            <a:r>
              <a:rPr lang="fr-FR" sz="3200" b="1" dirty="0"/>
              <a:t>Maître de Jeu Interactif</a:t>
            </a:r>
            <a:br>
              <a:rPr lang="fr-FR" dirty="0"/>
            </a:br>
            <a:br>
              <a:rPr lang="fr-FR" dirty="0"/>
            </a:br>
            <a:endParaRPr lang="fr-FR" dirty="0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C8054EDC-6BAC-7B05-FB4E-92040BBFE74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0718" y="2651761"/>
            <a:ext cx="2067232" cy="1661068"/>
          </a:xfrm>
        </p:spPr>
        <p:txBody>
          <a:bodyPr>
            <a:noAutofit/>
          </a:bodyPr>
          <a:lstStyle/>
          <a:p>
            <a:endParaRPr lang="fr-FR" sz="1600" dirty="0"/>
          </a:p>
          <a:p>
            <a:endParaRPr lang="fr-FR" sz="1600" dirty="0"/>
          </a:p>
          <a:p>
            <a:endParaRPr lang="fr-FR" sz="1600" dirty="0"/>
          </a:p>
          <a:p>
            <a:endParaRPr lang="fr-FR" sz="1600" dirty="0"/>
          </a:p>
          <a:p>
            <a:r>
              <a:rPr lang="en-US" b="1" dirty="0"/>
              <a:t>Réalisé par :</a:t>
            </a:r>
            <a:endParaRPr lang="fr-FR" b="1" dirty="0"/>
          </a:p>
          <a:p>
            <a:r>
              <a:rPr lang="fr-FR" sz="1600" dirty="0"/>
              <a:t>Mellagui Meryem</a:t>
            </a:r>
          </a:p>
          <a:p>
            <a:r>
              <a:rPr lang="fr-FR" sz="1600" dirty="0"/>
              <a:t>Monczewski Gabriel</a:t>
            </a:r>
          </a:p>
          <a:p>
            <a:r>
              <a:rPr lang="fr-FR" sz="1600" dirty="0"/>
              <a:t>Mordohai Florian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EE2E603F-4A95-4FE8-BB06-211DFD75DB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723900"/>
            <a:ext cx="49149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7CC41EB-2D81-4303-9171-6401B388BA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00100" y="6134100"/>
            <a:ext cx="49149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Picture 3" descr="Un concept génétique abstrait">
            <a:extLst>
              <a:ext uri="{FF2B5EF4-FFF2-40B4-BE49-F238E27FC236}">
                <a16:creationId xmlns:a16="http://schemas.microsoft.com/office/drawing/2014/main" id="{2203E005-4EAE-FD74-5F40-9807FE2A34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1107" r="6115"/>
          <a:stretch>
            <a:fillRect/>
          </a:stretch>
        </p:blipFill>
        <p:spPr>
          <a:xfrm>
            <a:off x="6515100" y="10"/>
            <a:ext cx="5676900" cy="6857990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964B059B-0744-14E4-2AA0-0A7FB22E70D2}"/>
              </a:ext>
            </a:extLst>
          </p:cNvPr>
          <p:cNvSpPr txBox="1"/>
          <p:nvPr/>
        </p:nvSpPr>
        <p:spPr>
          <a:xfrm>
            <a:off x="580718" y="5087035"/>
            <a:ext cx="5227171" cy="6771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FR" sz="2000" b="1" dirty="0"/>
              <a:t>Encadré par : </a:t>
            </a:r>
          </a:p>
          <a:p>
            <a:r>
              <a:rPr lang="fr-FR" dirty="0"/>
              <a:t> Mr Fabien Escourbiac &amp; Mr Philippe Roussille</a:t>
            </a:r>
          </a:p>
        </p:txBody>
      </p:sp>
    </p:spTree>
    <p:extLst>
      <p:ext uri="{BB962C8B-B14F-4D97-AF65-F5344CB8AC3E}">
        <p14:creationId xmlns:p14="http://schemas.microsoft.com/office/powerpoint/2010/main" val="3651948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88AE4AE-3D43-817D-E2E4-064A231D3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Objectifs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BB527D8C-EECA-D7C2-E3AF-DC306A602D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 dirty="0"/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fr-FR" altLang="fr-FR" dirty="0">
                <a:latin typeface="Arial" panose="020B0604020202020204" pitchFamily="34" charset="0"/>
              </a:rPr>
              <a:t>Créer un agent intelligent jouant le rôle d’un maître de jeu dans un RPG textuel.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endParaRPr lang="fr-FR" altLang="fr-FR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fr-FR" altLang="fr-FR" dirty="0">
                <a:latin typeface="Arial" panose="020B0604020202020204" pitchFamily="34" charset="0"/>
              </a:rPr>
              <a:t>L’agent raconte une histoire, décrit un univers et réagit aux choix du joueur.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endParaRPr lang="fr-FR" altLang="fr-FR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fr-FR" altLang="fr-FR" dirty="0">
                <a:latin typeface="Arial" panose="020B0604020202020204" pitchFamily="34" charset="0"/>
              </a:rPr>
              <a:t>Le joueur interagit en langage naturel pour influencer le scénario.</a:t>
            </a:r>
          </a:p>
          <a:p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C36CFA5-1EAA-7739-0FBE-6CAD61C3D7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142351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D7A4A-97DE-8533-8BAC-0CE895092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FD7302-A60A-EA4C-05CA-03B8752CA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Fonctionnalités principales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C46D280-FDFF-1C56-91A2-512D939AD7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2221992"/>
            <a:ext cx="4999125" cy="2700528"/>
          </a:xfrm>
        </p:spPr>
        <p:txBody>
          <a:bodyPr/>
          <a:lstStyle/>
          <a:p>
            <a:pPr>
              <a:buFont typeface="Wingdings" panose="05000000000000000000" pitchFamily="2" charset="2"/>
              <a:buChar char="q"/>
            </a:pPr>
            <a:endParaRPr lang="fr-FR" dirty="0"/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fr-FR" altLang="fr-FR" dirty="0">
                <a:latin typeface="Arial" panose="020B0604020202020204" pitchFamily="34" charset="0"/>
              </a:rPr>
              <a:t>Narration dynamique générée par IA.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endParaRPr lang="fr-FR" altLang="fr-FR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fr-FR" altLang="fr-FR" dirty="0">
                <a:latin typeface="Arial" panose="020B0604020202020204" pitchFamily="34" charset="0"/>
              </a:rPr>
              <a:t>Compréhension du langage naturel.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fr-FR" altLang="fr-FR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fr-FR" altLang="fr-FR" dirty="0">
                <a:latin typeface="Arial" panose="020B0604020202020204" pitchFamily="34" charset="0"/>
              </a:rPr>
              <a:t>Intégration avec Ollama (modèle local Llama3).</a:t>
            </a:r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BE93AB0-2560-C67C-5CF4-C761CD047D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9A55362-4011-AAC7-F698-76D2DCA420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Image 7">
            <a:extLst>
              <a:ext uri="{FF2B5EF4-FFF2-40B4-BE49-F238E27FC236}">
                <a16:creationId xmlns:a16="http://schemas.microsoft.com/office/drawing/2014/main" id="{23866988-8EC4-F4F4-476B-FFC334D796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9760" y="1874520"/>
            <a:ext cx="6281538" cy="36728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97429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C1121B-E020-E515-62F1-5F2086037A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Architecture imaginée</a:t>
            </a:r>
          </a:p>
        </p:txBody>
      </p:sp>
      <p:cxnSp>
        <p:nvCxnSpPr>
          <p:cNvPr id="5" name="Connecteur droit 4">
            <a:extLst>
              <a:ext uri="{FF2B5EF4-FFF2-40B4-BE49-F238E27FC236}">
                <a16:creationId xmlns:a16="http://schemas.microsoft.com/office/drawing/2014/main" id="{7E09D7F7-347A-0588-DBB2-3CA463493989}"/>
              </a:ext>
            </a:extLst>
          </p:cNvPr>
          <p:cNvCxnSpPr>
            <a:cxnSpLocks/>
          </p:cNvCxnSpPr>
          <p:nvPr/>
        </p:nvCxnSpPr>
        <p:spPr>
          <a:xfrm>
            <a:off x="10480229" y="2201979"/>
            <a:ext cx="0" cy="3682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ZoneTexte 7">
            <a:extLst>
              <a:ext uri="{FF2B5EF4-FFF2-40B4-BE49-F238E27FC236}">
                <a16:creationId xmlns:a16="http://schemas.microsoft.com/office/drawing/2014/main" id="{4CB4F2CE-1B74-20F9-D3D8-C7656849E319}"/>
              </a:ext>
            </a:extLst>
          </p:cNvPr>
          <p:cNvSpPr txBox="1"/>
          <p:nvPr/>
        </p:nvSpPr>
        <p:spPr>
          <a:xfrm>
            <a:off x="10545640" y="3244334"/>
            <a:ext cx="15526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/>
              <a:t>Ollama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626FC6B-6365-9261-B78D-D6F0484E936F}"/>
              </a:ext>
            </a:extLst>
          </p:cNvPr>
          <p:cNvSpPr/>
          <p:nvPr/>
        </p:nvSpPr>
        <p:spPr>
          <a:xfrm>
            <a:off x="3014548" y="2078090"/>
            <a:ext cx="2095963" cy="3278888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Façade interraction API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FDED8E9-0E55-AFF1-6A75-96DC413B7E21}"/>
              </a:ext>
            </a:extLst>
          </p:cNvPr>
          <p:cNvSpPr/>
          <p:nvPr/>
        </p:nvSpPr>
        <p:spPr>
          <a:xfrm>
            <a:off x="5539492" y="1802101"/>
            <a:ext cx="2268112" cy="1016962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Entité</a:t>
            </a:r>
          </a:p>
        </p:txBody>
      </p: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D7C18E11-4B29-7700-915C-77971DA547C3}"/>
              </a:ext>
            </a:extLst>
          </p:cNvPr>
          <p:cNvCxnSpPr>
            <a:cxnSpLocks/>
          </p:cNvCxnSpPr>
          <p:nvPr/>
        </p:nvCxnSpPr>
        <p:spPr>
          <a:xfrm>
            <a:off x="7209689" y="2776308"/>
            <a:ext cx="1612739" cy="4123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9A7853F6-DD2F-1CD1-82AD-C62C8530AD65}"/>
              </a:ext>
            </a:extLst>
          </p:cNvPr>
          <p:cNvCxnSpPr/>
          <p:nvPr/>
        </p:nvCxnSpPr>
        <p:spPr>
          <a:xfrm flipH="1" flipV="1">
            <a:off x="7122592" y="2407161"/>
            <a:ext cx="1739590" cy="47843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Ellipse 16">
            <a:extLst>
              <a:ext uri="{FF2B5EF4-FFF2-40B4-BE49-F238E27FC236}">
                <a16:creationId xmlns:a16="http://schemas.microsoft.com/office/drawing/2014/main" id="{73F62F8C-53C3-A248-AD76-9AD9808F5905}"/>
              </a:ext>
            </a:extLst>
          </p:cNvPr>
          <p:cNvSpPr/>
          <p:nvPr/>
        </p:nvSpPr>
        <p:spPr>
          <a:xfrm>
            <a:off x="5671270" y="4364073"/>
            <a:ext cx="1901432" cy="108055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Dialogue</a:t>
            </a:r>
          </a:p>
        </p:txBody>
      </p:sp>
      <p:cxnSp>
        <p:nvCxnSpPr>
          <p:cNvPr id="19" name="Connecteur droit avec flèche 18">
            <a:extLst>
              <a:ext uri="{FF2B5EF4-FFF2-40B4-BE49-F238E27FC236}">
                <a16:creationId xmlns:a16="http://schemas.microsoft.com/office/drawing/2014/main" id="{0B3AACB0-DA2C-E38B-4715-3CBD4AD02A0A}"/>
              </a:ext>
            </a:extLst>
          </p:cNvPr>
          <p:cNvCxnSpPr/>
          <p:nvPr/>
        </p:nvCxnSpPr>
        <p:spPr>
          <a:xfrm flipV="1">
            <a:off x="7034392" y="4640701"/>
            <a:ext cx="1396272" cy="2700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eur droit avec flèche 20">
            <a:extLst>
              <a:ext uri="{FF2B5EF4-FFF2-40B4-BE49-F238E27FC236}">
                <a16:creationId xmlns:a16="http://schemas.microsoft.com/office/drawing/2014/main" id="{9E35402B-35BF-3988-7B8C-390CD6146E43}"/>
              </a:ext>
            </a:extLst>
          </p:cNvPr>
          <p:cNvCxnSpPr/>
          <p:nvPr/>
        </p:nvCxnSpPr>
        <p:spPr>
          <a:xfrm flipH="1">
            <a:off x="6965183" y="4358404"/>
            <a:ext cx="1294888" cy="31912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7159D62B-9E23-378D-D2E5-9778659A24D0}"/>
              </a:ext>
            </a:extLst>
          </p:cNvPr>
          <p:cNvSpPr/>
          <p:nvPr/>
        </p:nvSpPr>
        <p:spPr>
          <a:xfrm>
            <a:off x="292515" y="2078090"/>
            <a:ext cx="2240224" cy="3241053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Console / utilisateur</a:t>
            </a:r>
          </a:p>
        </p:txBody>
      </p:sp>
      <p:cxnSp>
        <p:nvCxnSpPr>
          <p:cNvPr id="24" name="Connecteur droit avec flèche 23">
            <a:extLst>
              <a:ext uri="{FF2B5EF4-FFF2-40B4-BE49-F238E27FC236}">
                <a16:creationId xmlns:a16="http://schemas.microsoft.com/office/drawing/2014/main" id="{1B70CC74-7D1C-4B9A-DEC7-7DE10A528460}"/>
              </a:ext>
            </a:extLst>
          </p:cNvPr>
          <p:cNvCxnSpPr>
            <a:cxnSpLocks/>
          </p:cNvCxnSpPr>
          <p:nvPr/>
        </p:nvCxnSpPr>
        <p:spPr>
          <a:xfrm flipV="1">
            <a:off x="4878693" y="2724238"/>
            <a:ext cx="940693" cy="224096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eur droit avec flèche 25">
            <a:extLst>
              <a:ext uri="{FF2B5EF4-FFF2-40B4-BE49-F238E27FC236}">
                <a16:creationId xmlns:a16="http://schemas.microsoft.com/office/drawing/2014/main" id="{0C4B100C-B577-C3E2-9347-9AEF9497CFD6}"/>
              </a:ext>
            </a:extLst>
          </p:cNvPr>
          <p:cNvCxnSpPr>
            <a:cxnSpLocks/>
          </p:cNvCxnSpPr>
          <p:nvPr/>
        </p:nvCxnSpPr>
        <p:spPr>
          <a:xfrm>
            <a:off x="4702440" y="4758069"/>
            <a:ext cx="1241223" cy="42365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ZoneTexte 30">
            <a:extLst>
              <a:ext uri="{FF2B5EF4-FFF2-40B4-BE49-F238E27FC236}">
                <a16:creationId xmlns:a16="http://schemas.microsoft.com/office/drawing/2014/main" id="{29028385-05D6-B890-9071-2015D020519F}"/>
              </a:ext>
            </a:extLst>
          </p:cNvPr>
          <p:cNvSpPr txBox="1"/>
          <p:nvPr/>
        </p:nvSpPr>
        <p:spPr>
          <a:xfrm>
            <a:off x="7811679" y="2426662"/>
            <a:ext cx="938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Retour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F78DE0BB-F314-9EEC-26C5-2F986FA9431D}"/>
              </a:ext>
            </a:extLst>
          </p:cNvPr>
          <p:cNvSpPr txBox="1"/>
          <p:nvPr/>
        </p:nvSpPr>
        <p:spPr>
          <a:xfrm>
            <a:off x="7287422" y="4227599"/>
            <a:ext cx="938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Retour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59D76286-BF71-6BC8-FAD2-1B576EAEF668}"/>
              </a:ext>
            </a:extLst>
          </p:cNvPr>
          <p:cNvSpPr txBox="1"/>
          <p:nvPr/>
        </p:nvSpPr>
        <p:spPr>
          <a:xfrm>
            <a:off x="7546165" y="3175089"/>
            <a:ext cx="9387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Demande de génération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2AD72072-0F1A-5159-9C6C-C0C36A4292E7}"/>
              </a:ext>
            </a:extLst>
          </p:cNvPr>
          <p:cNvSpPr txBox="1"/>
          <p:nvPr/>
        </p:nvSpPr>
        <p:spPr>
          <a:xfrm>
            <a:off x="7491885" y="4846773"/>
            <a:ext cx="9387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Demande de génération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B7ED4E75-E906-FCCE-CFA0-CE35568C3D79}"/>
              </a:ext>
            </a:extLst>
          </p:cNvPr>
          <p:cNvSpPr txBox="1"/>
          <p:nvPr/>
        </p:nvSpPr>
        <p:spPr>
          <a:xfrm>
            <a:off x="4949747" y="2011924"/>
            <a:ext cx="9387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Retour à façade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15B8D573-69C4-1F14-D7E5-8C8E56320995}"/>
              </a:ext>
            </a:extLst>
          </p:cNvPr>
          <p:cNvSpPr txBox="1"/>
          <p:nvPr/>
        </p:nvSpPr>
        <p:spPr>
          <a:xfrm>
            <a:off x="5072011" y="4151932"/>
            <a:ext cx="9387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Retour à façade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087E869C-0FA1-8676-11B3-7EE7B455BCBF}"/>
              </a:ext>
            </a:extLst>
          </p:cNvPr>
          <p:cNvSpPr txBox="1"/>
          <p:nvPr/>
        </p:nvSpPr>
        <p:spPr>
          <a:xfrm>
            <a:off x="4992497" y="2878945"/>
            <a:ext cx="938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Prompt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1CFA923F-BCBA-59DF-5AB1-C7A6A4C658FC}"/>
              </a:ext>
            </a:extLst>
          </p:cNvPr>
          <p:cNvSpPr txBox="1"/>
          <p:nvPr/>
        </p:nvSpPr>
        <p:spPr>
          <a:xfrm>
            <a:off x="5070103" y="5082413"/>
            <a:ext cx="938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Prompt</a:t>
            </a:r>
          </a:p>
        </p:txBody>
      </p:sp>
      <p:sp>
        <p:nvSpPr>
          <p:cNvPr id="41" name="Triangle isocèle 40">
            <a:extLst>
              <a:ext uri="{FF2B5EF4-FFF2-40B4-BE49-F238E27FC236}">
                <a16:creationId xmlns:a16="http://schemas.microsoft.com/office/drawing/2014/main" id="{9276E566-9E4B-F199-6CA9-846CE3C98798}"/>
              </a:ext>
            </a:extLst>
          </p:cNvPr>
          <p:cNvSpPr/>
          <p:nvPr/>
        </p:nvSpPr>
        <p:spPr>
          <a:xfrm>
            <a:off x="8084159" y="2452299"/>
            <a:ext cx="2268103" cy="2155728"/>
          </a:xfrm>
          <a:prstGeom prst="triangle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Adapteur</a:t>
            </a:r>
          </a:p>
          <a:p>
            <a:pPr algn="ctr"/>
            <a:r>
              <a:rPr lang="fr-FR" dirty="0"/>
              <a:t>Ollama / API</a:t>
            </a:r>
          </a:p>
        </p:txBody>
      </p:sp>
      <p:cxnSp>
        <p:nvCxnSpPr>
          <p:cNvPr id="43" name="Connecteur droit avec flèche 42">
            <a:extLst>
              <a:ext uri="{FF2B5EF4-FFF2-40B4-BE49-F238E27FC236}">
                <a16:creationId xmlns:a16="http://schemas.microsoft.com/office/drawing/2014/main" id="{208C628A-40F9-A734-F770-6723E0F80E91}"/>
              </a:ext>
            </a:extLst>
          </p:cNvPr>
          <p:cNvCxnSpPr>
            <a:cxnSpLocks/>
          </p:cNvCxnSpPr>
          <p:nvPr/>
        </p:nvCxnSpPr>
        <p:spPr>
          <a:xfrm>
            <a:off x="9649310" y="3584354"/>
            <a:ext cx="1536723" cy="2162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eur droit avec flèche 29">
            <a:extLst>
              <a:ext uri="{FF2B5EF4-FFF2-40B4-BE49-F238E27FC236}">
                <a16:creationId xmlns:a16="http://schemas.microsoft.com/office/drawing/2014/main" id="{FC3C54BA-4997-1A28-3960-5E165C9FC077}"/>
              </a:ext>
            </a:extLst>
          </p:cNvPr>
          <p:cNvCxnSpPr>
            <a:cxnSpLocks/>
          </p:cNvCxnSpPr>
          <p:nvPr/>
        </p:nvCxnSpPr>
        <p:spPr>
          <a:xfrm flipH="1">
            <a:off x="4893772" y="2339740"/>
            <a:ext cx="802692" cy="18522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eur droit avec flèche 27">
            <a:extLst>
              <a:ext uri="{FF2B5EF4-FFF2-40B4-BE49-F238E27FC236}">
                <a16:creationId xmlns:a16="http://schemas.microsoft.com/office/drawing/2014/main" id="{39441FB8-7AB2-FC5B-1008-E5CD344F6243}"/>
              </a:ext>
            </a:extLst>
          </p:cNvPr>
          <p:cNvCxnSpPr/>
          <p:nvPr/>
        </p:nvCxnSpPr>
        <p:spPr>
          <a:xfrm flipH="1" flipV="1">
            <a:off x="4739846" y="4300907"/>
            <a:ext cx="1470660" cy="61424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eur droit avec flèche 46">
            <a:extLst>
              <a:ext uri="{FF2B5EF4-FFF2-40B4-BE49-F238E27FC236}">
                <a16:creationId xmlns:a16="http://schemas.microsoft.com/office/drawing/2014/main" id="{7BEB76F0-BE8F-3B64-629E-24EBBEED5066}"/>
              </a:ext>
            </a:extLst>
          </p:cNvPr>
          <p:cNvCxnSpPr>
            <a:cxnSpLocks/>
          </p:cNvCxnSpPr>
          <p:nvPr/>
        </p:nvCxnSpPr>
        <p:spPr>
          <a:xfrm>
            <a:off x="1839738" y="3376497"/>
            <a:ext cx="1489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ZoneTexte 49">
            <a:extLst>
              <a:ext uri="{FF2B5EF4-FFF2-40B4-BE49-F238E27FC236}">
                <a16:creationId xmlns:a16="http://schemas.microsoft.com/office/drawing/2014/main" id="{71E66FC1-1533-A1B8-B48A-0AD3BE4550CF}"/>
              </a:ext>
            </a:extLst>
          </p:cNvPr>
          <p:cNvSpPr txBox="1"/>
          <p:nvPr/>
        </p:nvSpPr>
        <p:spPr>
          <a:xfrm>
            <a:off x="2473732" y="3080762"/>
            <a:ext cx="938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Prompt</a:t>
            </a:r>
          </a:p>
        </p:txBody>
      </p:sp>
    </p:spTree>
    <p:extLst>
      <p:ext uri="{BB962C8B-B14F-4D97-AF65-F5344CB8AC3E}">
        <p14:creationId xmlns:p14="http://schemas.microsoft.com/office/powerpoint/2010/main" val="2321962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6DF09A2-BA16-9C7D-29A7-92033FAA8037}"/>
              </a:ext>
            </a:extLst>
          </p:cNvPr>
          <p:cNvSpPr/>
          <p:nvPr/>
        </p:nvSpPr>
        <p:spPr>
          <a:xfrm>
            <a:off x="281137" y="1990460"/>
            <a:ext cx="2268112" cy="3241053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Console / utilisateur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32230BE-105E-3B6E-D0C3-FB7D48CAFCEC}"/>
              </a:ext>
            </a:extLst>
          </p:cNvPr>
          <p:cNvSpPr/>
          <p:nvPr/>
        </p:nvSpPr>
        <p:spPr>
          <a:xfrm>
            <a:off x="3685959" y="3029206"/>
            <a:ext cx="2268112" cy="1016962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Agent de décision</a:t>
            </a:r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939F036E-D347-17BA-2BD7-4A4B6BF2C5E6}"/>
              </a:ext>
            </a:extLst>
          </p:cNvPr>
          <p:cNvSpPr/>
          <p:nvPr/>
        </p:nvSpPr>
        <p:spPr>
          <a:xfrm>
            <a:off x="6589480" y="4524093"/>
            <a:ext cx="1901432" cy="108055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Agent histoire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AA02259E-4FF2-70BB-06A3-73C8E2C0995D}"/>
              </a:ext>
            </a:extLst>
          </p:cNvPr>
          <p:cNvSpPr/>
          <p:nvPr/>
        </p:nvSpPr>
        <p:spPr>
          <a:xfrm>
            <a:off x="6589480" y="1298293"/>
            <a:ext cx="1901432" cy="1080558"/>
          </a:xfrm>
          <a:prstGeom prst="ellipse">
            <a:avLst/>
          </a:prstGeom>
          <a:solidFill>
            <a:schemeClr val="tx2">
              <a:lumMod val="50000"/>
              <a:lumOff val="5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fr-FR" dirty="0"/>
              <a:t>Agent Entité</a:t>
            </a:r>
          </a:p>
        </p:txBody>
      </p:sp>
      <p:cxnSp>
        <p:nvCxnSpPr>
          <p:cNvPr id="8" name="Connecteur droit avec flèche 7">
            <a:extLst>
              <a:ext uri="{FF2B5EF4-FFF2-40B4-BE49-F238E27FC236}">
                <a16:creationId xmlns:a16="http://schemas.microsoft.com/office/drawing/2014/main" id="{53811ACE-49C6-D1A4-97D4-2DAB873CFC2A}"/>
              </a:ext>
            </a:extLst>
          </p:cNvPr>
          <p:cNvCxnSpPr>
            <a:cxnSpLocks/>
          </p:cNvCxnSpPr>
          <p:nvPr/>
        </p:nvCxnSpPr>
        <p:spPr>
          <a:xfrm>
            <a:off x="2395998" y="3432645"/>
            <a:ext cx="1489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ZoneTexte 8">
            <a:extLst>
              <a:ext uri="{FF2B5EF4-FFF2-40B4-BE49-F238E27FC236}">
                <a16:creationId xmlns:a16="http://schemas.microsoft.com/office/drawing/2014/main" id="{F781571A-8156-0C44-2045-7174D5728C3D}"/>
              </a:ext>
            </a:extLst>
          </p:cNvPr>
          <p:cNvSpPr txBox="1"/>
          <p:nvPr/>
        </p:nvSpPr>
        <p:spPr>
          <a:xfrm>
            <a:off x="2747180" y="3136910"/>
            <a:ext cx="938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00" dirty="0"/>
              <a:t>Prompt</a:t>
            </a:r>
          </a:p>
        </p:txBody>
      </p:sp>
      <p:cxnSp>
        <p:nvCxnSpPr>
          <p:cNvPr id="11" name="Connecteur droit avec flèche 10">
            <a:extLst>
              <a:ext uri="{FF2B5EF4-FFF2-40B4-BE49-F238E27FC236}">
                <a16:creationId xmlns:a16="http://schemas.microsoft.com/office/drawing/2014/main" id="{18FDF5BE-0E63-238A-F4D8-489BD7BD9850}"/>
              </a:ext>
            </a:extLst>
          </p:cNvPr>
          <p:cNvCxnSpPr>
            <a:cxnSpLocks/>
          </p:cNvCxnSpPr>
          <p:nvPr/>
        </p:nvCxnSpPr>
        <p:spPr>
          <a:xfrm rot="18919107">
            <a:off x="5559226" y="2613145"/>
            <a:ext cx="1489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ZoneTexte 11">
            <a:extLst>
              <a:ext uri="{FF2B5EF4-FFF2-40B4-BE49-F238E27FC236}">
                <a16:creationId xmlns:a16="http://schemas.microsoft.com/office/drawing/2014/main" id="{96CC0E75-198B-5CA3-40FD-D05B0C468B0E}"/>
              </a:ext>
            </a:extLst>
          </p:cNvPr>
          <p:cNvSpPr txBox="1"/>
          <p:nvPr/>
        </p:nvSpPr>
        <p:spPr>
          <a:xfrm rot="18919107">
            <a:off x="5712586" y="2163407"/>
            <a:ext cx="9387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Si intéraction</a:t>
            </a:r>
          </a:p>
        </p:txBody>
      </p:sp>
      <p:cxnSp>
        <p:nvCxnSpPr>
          <p:cNvPr id="15" name="Connecteur droit avec flèche 14">
            <a:extLst>
              <a:ext uri="{FF2B5EF4-FFF2-40B4-BE49-F238E27FC236}">
                <a16:creationId xmlns:a16="http://schemas.microsoft.com/office/drawing/2014/main" id="{F47515FE-7FD1-70A6-AC3C-7C5A92397836}"/>
              </a:ext>
            </a:extLst>
          </p:cNvPr>
          <p:cNvCxnSpPr>
            <a:cxnSpLocks/>
          </p:cNvCxnSpPr>
          <p:nvPr/>
        </p:nvCxnSpPr>
        <p:spPr>
          <a:xfrm rot="2201372">
            <a:off x="5656842" y="4280463"/>
            <a:ext cx="1489738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ZoneTexte 15">
            <a:extLst>
              <a:ext uri="{FF2B5EF4-FFF2-40B4-BE49-F238E27FC236}">
                <a16:creationId xmlns:a16="http://schemas.microsoft.com/office/drawing/2014/main" id="{7BCE78E9-8780-E33E-987D-19FA6D77AC44}"/>
              </a:ext>
            </a:extLst>
          </p:cNvPr>
          <p:cNvSpPr txBox="1"/>
          <p:nvPr/>
        </p:nvSpPr>
        <p:spPr>
          <a:xfrm rot="2201372">
            <a:off x="6075073" y="4070932"/>
            <a:ext cx="9387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Si dialogue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E5F179C-41CD-CB1C-8C90-A13D4484EC2B}"/>
              </a:ext>
            </a:extLst>
          </p:cNvPr>
          <p:cNvSpPr txBox="1"/>
          <p:nvPr/>
        </p:nvSpPr>
        <p:spPr>
          <a:xfrm>
            <a:off x="7766051" y="2293380"/>
            <a:ext cx="4456501" cy="21852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Console / Utilisateur</a:t>
            </a:r>
            <a:r>
              <a:rPr kumimoji="0" lang="fr-FR" altLang="fr-FR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: Interaction initiale de l'utilisateur.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 de décision</a:t>
            </a:r>
            <a:r>
              <a:rPr kumimoji="0" lang="fr-FR" altLang="fr-FR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: Prend les décisions en fonction des actions de l'utilisateur.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 Entité</a:t>
            </a:r>
            <a:r>
              <a:rPr kumimoji="0" lang="fr-FR" altLang="fr-FR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: Gère les entités et objets du jeu.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q"/>
              <a:tabLst/>
            </a:pPr>
            <a:r>
              <a:rPr kumimoji="0" lang="fr-FR" altLang="fr-FR" sz="17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Agent Histoire</a:t>
            </a:r>
            <a:r>
              <a:rPr kumimoji="0" lang="fr-FR" altLang="fr-FR" sz="17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: Génère et raconte l’histoire ou les dialogues.</a:t>
            </a:r>
          </a:p>
        </p:txBody>
      </p:sp>
    </p:spTree>
    <p:extLst>
      <p:ext uri="{BB962C8B-B14F-4D97-AF65-F5344CB8AC3E}">
        <p14:creationId xmlns:p14="http://schemas.microsoft.com/office/powerpoint/2010/main" val="38724527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7B7FE-AC7A-5673-E922-E4CEC7526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668DEC3-F3A9-DB79-57F2-C0CA5E1B6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Démonstration / Exemple d’interaction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4EACF7C6-03AA-FC6E-79CF-4B79BDBC48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FC6D76FB-1E9B-2762-82E9-43A8AB0B60C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611962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036C6-9076-DEBC-F3B5-0903CB59D5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C6F6FD89-D997-C4B0-0D2C-60B6517D4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Technologies utilisées</a:t>
            </a: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9AEBD77F-D66A-BAE9-AB31-4A40327AD7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graphicFrame>
        <p:nvGraphicFramePr>
          <p:cNvPr id="12" name="Espace réservé du contenu 11">
            <a:extLst>
              <a:ext uri="{FF2B5EF4-FFF2-40B4-BE49-F238E27FC236}">
                <a16:creationId xmlns:a16="http://schemas.microsoft.com/office/drawing/2014/main" id="{9CCB10D9-334E-2D10-D9AF-86059725264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56415079"/>
              </p:ext>
            </p:extLst>
          </p:nvPr>
        </p:nvGraphicFramePr>
        <p:xfrm>
          <a:off x="700088" y="2222500"/>
          <a:ext cx="10691812" cy="3157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45906">
                  <a:extLst>
                    <a:ext uri="{9D8B030D-6E8A-4147-A177-3AD203B41FA5}">
                      <a16:colId xmlns:a16="http://schemas.microsoft.com/office/drawing/2014/main" val="3500236416"/>
                    </a:ext>
                  </a:extLst>
                </a:gridCol>
                <a:gridCol w="5345906">
                  <a:extLst>
                    <a:ext uri="{9D8B030D-6E8A-4147-A177-3AD203B41FA5}">
                      <a16:colId xmlns:a16="http://schemas.microsoft.com/office/drawing/2014/main" val="2758830786"/>
                    </a:ext>
                  </a:extLst>
                </a:gridCol>
              </a:tblGrid>
              <a:tr h="6314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dirty="0"/>
                        <a:t>Catégorie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sz="2000" dirty="0"/>
                        <a:t>Outils / Langages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559582"/>
                  </a:ext>
                </a:extLst>
              </a:tr>
              <a:tr h="6314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Langage principal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Java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35917746"/>
                  </a:ext>
                </a:extLst>
              </a:tr>
              <a:tr h="6314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Backend IA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Ollama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1350796"/>
                  </a:ext>
                </a:extLst>
              </a:tr>
              <a:tr h="6314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Librairies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HttpClient, Gson/Jackson, JUnit, Mockito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76561751"/>
                  </a:ext>
                </a:extLst>
              </a:tr>
              <a:tr h="6314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/>
                        <a:t>Collaboration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fr-FR" dirty="0"/>
                        <a:t>GitHub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497056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3886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CA3D0-E2ED-D509-064B-02F097E21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E114F3-358D-170E-FBEA-07FBE1C62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Conclusion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6FEC905-8B1C-AB22-65E0-924FB25F21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fr-FR" altLang="fr-FR" dirty="0">
                <a:latin typeface="Arial" panose="020B0604020202020204" pitchFamily="34" charset="0"/>
              </a:rPr>
              <a:t>Projet permet de créer un jeu interactif où l'utilisateur influence l'histoire.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endParaRPr lang="fr-FR" altLang="fr-FR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fr-FR" altLang="fr-FR" dirty="0">
                <a:latin typeface="Arial" panose="020B0604020202020204" pitchFamily="34" charset="0"/>
              </a:rPr>
              <a:t>L'utilisation de l'IA et d'une architecture modulaire offre un système flexible.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endParaRPr lang="fr-FR" altLang="fr-FR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fr-FR" altLang="fr-FR" dirty="0">
                <a:latin typeface="Arial" panose="020B0604020202020204" pitchFamily="34" charset="0"/>
              </a:rPr>
              <a:t>Le projet a permis d'appliquer de bonnes pratiques de programmation.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endParaRPr lang="fr-FR" altLang="fr-FR" dirty="0">
              <a:latin typeface="Arial" panose="020B0604020202020204" pitchFamily="3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q"/>
            </a:pPr>
            <a:r>
              <a:rPr lang="fr-FR" altLang="fr-FR" dirty="0">
                <a:latin typeface="Arial" panose="020B0604020202020204" pitchFamily="34" charset="0"/>
              </a:rPr>
              <a:t>Des améliorations sont possibles, comme une interface graphique et une mémoire persistante.</a:t>
            </a:r>
            <a:endParaRPr lang="fr-FR" dirty="0"/>
          </a:p>
          <a:p>
            <a:endParaRPr lang="fr-FR" dirty="0"/>
          </a:p>
          <a:p>
            <a:endParaRPr lang="fr-FR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6FCDC980-071F-B07B-0245-7F25BE65D81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fr-FR" altLang="fr-F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369A9CA-3413-ADA3-5219-409A4BED9B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32893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fr-FR" altLang="fr-F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772795611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159</TotalTime>
  <Words>265</Words>
  <Application>Microsoft Office PowerPoint</Application>
  <PresentationFormat>Grand écran</PresentationFormat>
  <Paragraphs>75</Paragraphs>
  <Slides>8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8</vt:i4>
      </vt:variant>
    </vt:vector>
  </HeadingPairs>
  <TitlesOfParts>
    <vt:vector size="14" baseType="lpstr">
      <vt:lpstr>Aptos</vt:lpstr>
      <vt:lpstr>Arial</vt:lpstr>
      <vt:lpstr>Calisto MT</vt:lpstr>
      <vt:lpstr>Univers Condensed</vt:lpstr>
      <vt:lpstr>Wingdings</vt:lpstr>
      <vt:lpstr>ChronicleVTI</vt:lpstr>
      <vt:lpstr>Agent Intelligent : Maître de Jeu Interactif  </vt:lpstr>
      <vt:lpstr>Objectifs</vt:lpstr>
      <vt:lpstr>Fonctionnalités principales</vt:lpstr>
      <vt:lpstr>Architecture imaginée</vt:lpstr>
      <vt:lpstr>Présentation PowerPoint</vt:lpstr>
      <vt:lpstr>Démonstration / Exemple d’interaction</vt:lpstr>
      <vt:lpstr>Technologies utilisées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MORDOHAI Florian</dc:creator>
  <cp:lastModifiedBy>meryem mellagui</cp:lastModifiedBy>
  <cp:revision>5</cp:revision>
  <dcterms:created xsi:type="dcterms:W3CDTF">2025-10-07T12:21:50Z</dcterms:created>
  <dcterms:modified xsi:type="dcterms:W3CDTF">2025-11-02T16:55:13Z</dcterms:modified>
</cp:coreProperties>
</file>